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12"/>
  </p:notesMasterIdLst>
  <p:sldIdLst>
    <p:sldId id="256" r:id="rId2"/>
    <p:sldId id="260" r:id="rId3"/>
    <p:sldId id="266" r:id="rId4"/>
    <p:sldId id="298" r:id="rId5"/>
    <p:sldId id="288" r:id="rId6"/>
    <p:sldId id="352" r:id="rId7"/>
    <p:sldId id="306" r:id="rId8"/>
    <p:sldId id="354" r:id="rId9"/>
    <p:sldId id="353" r:id="rId10"/>
    <p:sldId id="351" r:id="rId11"/>
  </p:sldIdLst>
  <p:sldSz cx="9144000" cy="5143500" type="screen16x9"/>
  <p:notesSz cx="6858000" cy="9144000"/>
  <p:embeddedFontLst>
    <p:embeddedFont>
      <p:font typeface="Advent Pro" panose="020B0604020202020204" charset="0"/>
      <p:regular r:id="rId13"/>
      <p:bold r:id="rId14"/>
      <p:italic r:id="rId15"/>
      <p:boldItalic r:id="rId16"/>
    </p:embeddedFont>
    <p:embeddedFont>
      <p:font typeface="Open Sans" panose="020B0606030504020204" pitchFamily="34" charset="0"/>
      <p:regular r:id="rId17"/>
      <p:bold r:id="rId18"/>
      <p:italic r:id="rId19"/>
      <p:boldItalic r:id="rId20"/>
    </p:embeddedFont>
    <p:embeddedFont>
      <p:font typeface="Roboto" panose="02000000000000000000" pitchFamily="2"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52"/>
            <p14:sldId id="306"/>
            <p14:sldId id="354"/>
            <p14:sldId id="353"/>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18" autoAdjust="0"/>
    <p:restoredTop sz="60896" autoAdjust="0"/>
  </p:normalViewPr>
  <p:slideViewPr>
    <p:cSldViewPr snapToGrid="0">
      <p:cViewPr varScale="1">
        <p:scale>
          <a:sx n="89" d="100"/>
          <a:sy n="89" d="100"/>
        </p:scale>
        <p:origin x="2382" y="78"/>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font" Target="fonts/font11.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tout le monde, j’espère que vous allez bien. Aujourd’hui, </a:t>
            </a:r>
            <a:r>
              <a:rPr lang="fr-FR" baseline="0" dirty="0"/>
              <a:t>on va vous </a:t>
            </a:r>
            <a:r>
              <a:rPr lang="fr-FR" dirty="0"/>
              <a:t>présenter </a:t>
            </a:r>
            <a:r>
              <a:rPr lang="fr-FR" b="1" dirty="0" err="1"/>
              <a:t>Marhaba</a:t>
            </a:r>
            <a:r>
              <a:rPr lang="fr-FR" dirty="0"/>
              <a:t>, notre application conçue pour offrir une solution simple et efficace de </a:t>
            </a:r>
            <a:r>
              <a:rPr lang="fr-FR" b="1" dirty="0"/>
              <a:t>livraison de repas</a:t>
            </a:r>
            <a:r>
              <a:rPr lang="fr-FR" dirty="0"/>
              <a:t>.</a:t>
            </a:r>
            <a:br>
              <a:rPr lang="fr-FR" dirty="0"/>
            </a:br>
            <a:r>
              <a:rPr lang="fr-FR" dirty="0"/>
              <a:t>Ce projet a été réalisé dans le cadre de notre PFE par moi </a:t>
            </a:r>
            <a:r>
              <a:rPr lang="fr-FR" dirty="0" err="1"/>
              <a:t>méme</a:t>
            </a:r>
            <a:r>
              <a:rPr lang="fr-FR" dirty="0"/>
              <a:t> </a:t>
            </a:r>
            <a:r>
              <a:rPr lang="fr-FR" b="1" dirty="0"/>
              <a:t>Azeddine</a:t>
            </a:r>
            <a:r>
              <a:rPr lang="fr-FR" dirty="0"/>
              <a:t> et mon collègue </a:t>
            </a:r>
            <a:r>
              <a:rPr lang="fr-FR" b="1" dirty="0"/>
              <a:t>Zakaria</a:t>
            </a:r>
            <a:r>
              <a:rPr lang="fr-FR" dirty="0"/>
              <a:t>,</a:t>
            </a:r>
          </a:p>
          <a:p>
            <a:pPr marL="0" lvl="0" indent="0" algn="l" rtl="0">
              <a:spcBef>
                <a:spcPts val="0"/>
              </a:spcBef>
              <a:spcAft>
                <a:spcPts val="0"/>
              </a:spcAft>
              <a:buNone/>
            </a:pPr>
            <a:endParaRPr lang="fr-FR" dirty="0"/>
          </a:p>
          <a:p>
            <a:pPr marL="158750" indent="0">
              <a:buNone/>
            </a:pPr>
            <a:r>
              <a:rPr lang="en-US" dirty="0"/>
              <a:t>Avant </a:t>
            </a:r>
            <a:r>
              <a:rPr lang="en-US" dirty="0" err="1"/>
              <a:t>tous</a:t>
            </a:r>
            <a:r>
              <a:rPr lang="en-US" dirty="0"/>
              <a:t> nous tenons à </a:t>
            </a:r>
            <a:r>
              <a:rPr lang="en-US" dirty="0" err="1"/>
              <a:t>remercier</a:t>
            </a:r>
            <a:r>
              <a:rPr lang="en-US" dirty="0"/>
              <a:t> </a:t>
            </a:r>
            <a:r>
              <a:rPr lang="en-US" dirty="0" err="1"/>
              <a:t>notre</a:t>
            </a:r>
            <a:r>
              <a:rPr lang="en-US" dirty="0"/>
              <a:t> </a:t>
            </a:r>
            <a:r>
              <a:rPr lang="en-US" dirty="0" err="1"/>
              <a:t>coordinateur</a:t>
            </a:r>
            <a:r>
              <a:rPr lang="en-US" dirty="0"/>
              <a:t>, Monsieur le </a:t>
            </a:r>
            <a:r>
              <a:rPr lang="en-US" dirty="0" err="1"/>
              <a:t>Professeur</a:t>
            </a:r>
            <a:r>
              <a:rPr lang="en-US" dirty="0"/>
              <a:t> X, </a:t>
            </a:r>
            <a:r>
              <a:rPr lang="en-US" dirty="0" err="1"/>
              <a:t>ainsi</a:t>
            </a:r>
            <a:r>
              <a:rPr lang="en-US" dirty="0"/>
              <a:t> </a:t>
            </a:r>
            <a:r>
              <a:rPr lang="en-US" dirty="0" err="1"/>
              <a:t>que</a:t>
            </a:r>
            <a:r>
              <a:rPr lang="en-US" dirty="0"/>
              <a:t> Messieurs les </a:t>
            </a:r>
            <a:r>
              <a:rPr lang="en-US" dirty="0" err="1"/>
              <a:t>membres</a:t>
            </a:r>
            <a:r>
              <a:rPr lang="en-US" dirty="0"/>
              <a:t> du jury, Monsieur Y et Monsieur Z, pour </a:t>
            </a:r>
            <a:r>
              <a:rPr lang="en-US" dirty="0" err="1"/>
              <a:t>leur</a:t>
            </a:r>
            <a:r>
              <a:rPr lang="en-US" dirty="0"/>
              <a:t> </a:t>
            </a:r>
            <a:r>
              <a:rPr lang="en-US" dirty="0" err="1"/>
              <a:t>présence</a:t>
            </a:r>
            <a:r>
              <a:rPr lang="en-US" dirty="0"/>
              <a:t>, </a:t>
            </a:r>
            <a:r>
              <a:rPr lang="en-US" dirty="0" err="1"/>
              <a:t>leur</a:t>
            </a:r>
            <a:r>
              <a:rPr lang="en-US" dirty="0"/>
              <a:t> </a:t>
            </a:r>
            <a:r>
              <a:rPr lang="en-US" dirty="0" err="1"/>
              <a:t>disponibilité</a:t>
            </a:r>
            <a:r>
              <a:rPr lang="en-US" dirty="0"/>
              <a:t> et le temps </a:t>
            </a:r>
            <a:r>
              <a:rPr lang="en-US" dirty="0" err="1"/>
              <a:t>qu’ils</a:t>
            </a:r>
            <a:r>
              <a:rPr lang="en-US" dirty="0"/>
              <a:t> nous </a:t>
            </a:r>
            <a:r>
              <a:rPr lang="en-US" dirty="0" err="1"/>
              <a:t>accordent</a:t>
            </a:r>
            <a:r>
              <a:rPr lang="en-US" dirty="0"/>
              <a:t> </a:t>
            </a:r>
            <a:r>
              <a:rPr lang="en-US" dirty="0" err="1"/>
              <a:t>afin</a:t>
            </a:r>
            <a:r>
              <a:rPr lang="en-US" dirty="0"/>
              <a:t> </a:t>
            </a:r>
            <a:r>
              <a:rPr lang="en-US" dirty="0" err="1"/>
              <a:t>d’assister</a:t>
            </a:r>
            <a:r>
              <a:rPr lang="en-US" dirty="0"/>
              <a:t> à la </a:t>
            </a:r>
            <a:r>
              <a:rPr lang="en-US" dirty="0" err="1"/>
              <a:t>présentation</a:t>
            </a:r>
            <a:r>
              <a:rPr lang="en-US" dirty="0"/>
              <a:t> de </a:t>
            </a:r>
            <a:r>
              <a:rPr lang="en-US" dirty="0" err="1"/>
              <a:t>notre</a:t>
            </a:r>
            <a:r>
              <a:rPr lang="en-US" dirty="0"/>
              <a:t> </a:t>
            </a:r>
            <a:r>
              <a:rPr lang="en-US" dirty="0" err="1"/>
              <a:t>mémoire</a:t>
            </a:r>
            <a:r>
              <a:rPr lang="en-US" dirty="0"/>
              <a:t> de fin </a:t>
            </a:r>
            <a:r>
              <a:rPr lang="en-US" dirty="0" err="1"/>
              <a:t>d’études</a:t>
            </a:r>
            <a:r>
              <a:rPr lang="en-US" dirty="0"/>
              <a:t>, </a:t>
            </a:r>
            <a:r>
              <a:rPr lang="en-US" dirty="0" err="1"/>
              <a:t>réalisé</a:t>
            </a:r>
            <a:r>
              <a:rPr lang="en-US" dirty="0"/>
              <a:t> dans le cadre de </a:t>
            </a:r>
            <a:r>
              <a:rPr lang="en-US" dirty="0" err="1"/>
              <a:t>l’obtention</a:t>
            </a:r>
            <a:r>
              <a:rPr lang="en-US" dirty="0"/>
              <a:t> de </a:t>
            </a:r>
            <a:r>
              <a:rPr lang="en-US" dirty="0" err="1"/>
              <a:t>notre</a:t>
            </a:r>
            <a:r>
              <a:rPr lang="en-US" dirty="0"/>
              <a:t> diplôme de master.</a:t>
            </a:r>
          </a:p>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Alors Nous vous </a:t>
            </a:r>
            <a:r>
              <a:rPr lang="en-US" dirty="0" err="1"/>
              <a:t>présentons</a:t>
            </a:r>
            <a:r>
              <a:rPr lang="en-US" dirty="0"/>
              <a:t> </a:t>
            </a:r>
            <a:r>
              <a:rPr lang="en-US" dirty="0" err="1"/>
              <a:t>aujourd’hui</a:t>
            </a:r>
            <a:r>
              <a:rPr lang="en-US" dirty="0"/>
              <a:t> </a:t>
            </a:r>
            <a:r>
              <a:rPr lang="en-US" dirty="0" err="1"/>
              <a:t>notre</a:t>
            </a:r>
            <a:r>
              <a:rPr lang="en-US" dirty="0"/>
              <a:t> </a:t>
            </a:r>
            <a:r>
              <a:rPr lang="en-US" dirty="0" err="1"/>
              <a:t>projet</a:t>
            </a:r>
            <a:r>
              <a:rPr lang="en-US" dirty="0"/>
              <a:t> de fin </a:t>
            </a:r>
            <a:r>
              <a:rPr lang="en-US" dirty="0" err="1"/>
              <a:t>d’études</a:t>
            </a:r>
            <a:r>
              <a:rPr lang="en-US" dirty="0"/>
              <a:t>, </a:t>
            </a:r>
            <a:r>
              <a:rPr lang="en-US" dirty="0" err="1"/>
              <a:t>réalisé</a:t>
            </a:r>
            <a:r>
              <a:rPr lang="en-US" dirty="0"/>
              <a:t> par moi-</a:t>
            </a:r>
            <a:r>
              <a:rPr lang="en-US" dirty="0" err="1"/>
              <a:t>même</a:t>
            </a:r>
            <a:r>
              <a:rPr lang="en-US" dirty="0"/>
              <a:t> Azeddine </a:t>
            </a:r>
            <a:r>
              <a:rPr lang="en-US" dirty="0" err="1"/>
              <a:t>maslouh</a:t>
            </a:r>
            <a:r>
              <a:rPr lang="en-US" dirty="0"/>
              <a:t> et </a:t>
            </a:r>
            <a:r>
              <a:rPr lang="en-US" dirty="0" err="1"/>
              <a:t>mon</a:t>
            </a:r>
            <a:r>
              <a:rPr lang="en-US" dirty="0"/>
              <a:t> </a:t>
            </a:r>
            <a:r>
              <a:rPr lang="en-US" dirty="0" err="1"/>
              <a:t>camarade</a:t>
            </a:r>
            <a:r>
              <a:rPr lang="en-US" dirty="0"/>
              <a:t>, Monsieur E.</a:t>
            </a:r>
          </a:p>
          <a:p>
            <a:pPr marL="158750" indent="0">
              <a:buNone/>
            </a:pPr>
            <a:endParaRPr lang="fr-F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ON peux choisi cette application pour trouvez une solution de ce </a:t>
            </a:r>
            <a:r>
              <a:rPr lang="fr-FR" dirty="0" err="1"/>
              <a:t>problem</a:t>
            </a: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Donc on a choisir</a:t>
            </a:r>
            <a:r>
              <a:rPr lang="fr-FR" baseline="0" dirty="0"/>
              <a:t> 4 solution </a:t>
            </a:r>
          </a:p>
          <a:p>
            <a:pPr marL="0" lvl="0" indent="0" algn="l" rtl="0">
              <a:spcBef>
                <a:spcPts val="0"/>
              </a:spcBef>
              <a:spcAft>
                <a:spcPts val="0"/>
              </a:spcAft>
              <a:buNone/>
            </a:pPr>
            <a:endParaRPr lang="fr-FR" baseline="0" dirty="0"/>
          </a:p>
          <a:p>
            <a:pPr marL="0" lvl="0" indent="0" algn="l" rtl="0">
              <a:spcBef>
                <a:spcPts val="0"/>
              </a:spcBef>
              <a:spcAft>
                <a:spcPts val="0"/>
              </a:spcAft>
              <a:buNone/>
            </a:pPr>
            <a:r>
              <a:rPr lang="fr-FR" baseline="0" dirty="0"/>
              <a:t>Notre application visé a 4 solution</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Client : Il a le droit de consulter le catalogue , passe </a:t>
            </a:r>
            <a:r>
              <a:rPr lang="fr-FR" dirty="0" err="1"/>
              <a:t>commande,paie</a:t>
            </a:r>
            <a:r>
              <a:rPr lang="fr-FR" dirty="0"/>
              <a:t> livraison et suit sa commande en temp réel</a:t>
            </a:r>
          </a:p>
          <a:p>
            <a:pPr marL="0" lvl="0" indent="0" algn="l" rtl="0">
              <a:spcBef>
                <a:spcPts val="0"/>
              </a:spcBef>
              <a:spcAft>
                <a:spcPts val="0"/>
              </a:spcAft>
              <a:buNone/>
            </a:pPr>
            <a:r>
              <a:rPr lang="fr-FR" dirty="0"/>
              <a:t>Manager : </a:t>
            </a:r>
            <a:r>
              <a:rPr lang="fr-FR" dirty="0" err="1"/>
              <a:t>gére</a:t>
            </a:r>
            <a:r>
              <a:rPr lang="fr-FR" dirty="0"/>
              <a:t> produit , </a:t>
            </a:r>
            <a:r>
              <a:rPr lang="fr-FR" dirty="0" err="1"/>
              <a:t>categorie</a:t>
            </a:r>
            <a:r>
              <a:rPr lang="fr-FR" dirty="0"/>
              <a:t> utilisateurs et livreur , valide les commande aussi consulter les statistiques</a:t>
            </a:r>
          </a:p>
          <a:p>
            <a:pPr marL="0" lvl="0" indent="0" algn="l" rtl="0">
              <a:spcBef>
                <a:spcPts val="0"/>
              </a:spcBef>
              <a:spcAft>
                <a:spcPts val="0"/>
              </a:spcAft>
              <a:buNone/>
            </a:pPr>
            <a:r>
              <a:rPr lang="fr-FR" dirty="0"/>
              <a:t>Livreur : consulte les commande qui lui assignées et mettre a jour le statut de livraison</a:t>
            </a:r>
          </a:p>
          <a:p>
            <a:pPr marL="0" lvl="0" indent="0" algn="l" rtl="0">
              <a:spcBef>
                <a:spcPts val="0"/>
              </a:spcBef>
              <a:spcAft>
                <a:spcPts val="0"/>
              </a:spcAft>
              <a:buNone/>
            </a:pPr>
            <a:r>
              <a:rPr lang="fr-FR" dirty="0"/>
              <a:t>Zakaria va nous clarifier ça encore plus dans la partie UML</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p:cNvGrpSpPr/>
        <p:nvPr/>
      </p:nvGrpSpPr>
      <p:grpSpPr>
        <a:xfrm>
          <a:off x="0" y="0"/>
          <a:ext cx="0" cy="0"/>
          <a:chOff x="0" y="0"/>
          <a:chExt cx="0" cy="0"/>
        </a:xfrm>
      </p:grpSpPr>
      <p:sp>
        <p:nvSpPr>
          <p:cNvPr id="2994" name="Google Shape;2994;g6ba8e432a2_0_4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a:extLst>
            <a:ext uri="{FF2B5EF4-FFF2-40B4-BE49-F238E27FC236}">
              <a16:creationId xmlns:a16="http://schemas.microsoft.com/office/drawing/2014/main" id="{E55F8D5D-A236-35ED-93CD-E6B1D296002E}"/>
            </a:ext>
          </a:extLst>
        </p:cNvPr>
        <p:cNvGrpSpPr/>
        <p:nvPr/>
      </p:nvGrpSpPr>
      <p:grpSpPr>
        <a:xfrm>
          <a:off x="0" y="0"/>
          <a:ext cx="0" cy="0"/>
          <a:chOff x="0" y="0"/>
          <a:chExt cx="0" cy="0"/>
        </a:xfrm>
      </p:grpSpPr>
      <p:sp>
        <p:nvSpPr>
          <p:cNvPr id="2994" name="Google Shape;2994;g6ba8e432a2_0_466:notes">
            <a:extLst>
              <a:ext uri="{FF2B5EF4-FFF2-40B4-BE49-F238E27FC236}">
                <a16:creationId xmlns:a16="http://schemas.microsoft.com/office/drawing/2014/main" id="{F8E894E4-C5AB-451A-34DB-C54D19D41A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a:extLst>
              <a:ext uri="{FF2B5EF4-FFF2-40B4-BE49-F238E27FC236}">
                <a16:creationId xmlns:a16="http://schemas.microsoft.com/office/drawing/2014/main" id="{68035A20-56E1-EED4-50B2-83D27966B6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83396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3">
          <a:extLst>
            <a:ext uri="{FF2B5EF4-FFF2-40B4-BE49-F238E27FC236}">
              <a16:creationId xmlns:a16="http://schemas.microsoft.com/office/drawing/2014/main" id="{6F1BE2B2-28AD-91F6-1F4A-C156CC156A9D}"/>
            </a:ext>
          </a:extLst>
        </p:cNvPr>
        <p:cNvGrpSpPr/>
        <p:nvPr/>
      </p:nvGrpSpPr>
      <p:grpSpPr>
        <a:xfrm>
          <a:off x="0" y="0"/>
          <a:ext cx="0" cy="0"/>
          <a:chOff x="0" y="0"/>
          <a:chExt cx="0" cy="0"/>
        </a:xfrm>
      </p:grpSpPr>
      <p:sp>
        <p:nvSpPr>
          <p:cNvPr id="2994" name="Google Shape;2994;g6ba8e432a2_0_466:notes">
            <a:extLst>
              <a:ext uri="{FF2B5EF4-FFF2-40B4-BE49-F238E27FC236}">
                <a16:creationId xmlns:a16="http://schemas.microsoft.com/office/drawing/2014/main" id="{D6187397-3301-28E3-11C1-FDF4DA12C1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5" name="Google Shape;2995;g6ba8e432a2_0_466:notes">
            <a:extLst>
              <a:ext uri="{FF2B5EF4-FFF2-40B4-BE49-F238E27FC236}">
                <a16:creationId xmlns:a16="http://schemas.microsoft.com/office/drawing/2014/main" id="{B39A13B0-3682-9D88-30FB-95B19C8BE3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9041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9" r:id="rId3"/>
    <p:sldLayoutId id="2147483662" r:id="rId4"/>
    <p:sldLayoutId id="2147483664" r:id="rId5"/>
    <p:sldLayoutId id="2147483675" r:id="rId6"/>
  </p:sldLayoutIdLst>
  <mc:AlternateContent xmlns:mc="http://schemas.openxmlformats.org/markup-compatibility/2006" xmlns:p14="http://schemas.microsoft.com/office/powerpoint/2010/main">
    <mc:Choice Requires="p14">
      <p:transition spd="med" p14:dur="700">
        <p:fade thruBlk="1"/>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436253"/>
            <a:ext cx="4599797" cy="1766947"/>
          </a:xfrm>
          <a:prstGeom prst="rect">
            <a:avLst/>
          </a:prstGeom>
        </p:spPr>
        <p:txBody>
          <a:bodyPr spcFirstLastPara="1" wrap="square" lIns="91425" tIns="91425" rIns="91425" bIns="91425" anchor="b" anchorCtr="0">
            <a:noAutofit/>
          </a:bodyPr>
          <a:lstStyle/>
          <a:p>
            <a:r>
              <a:rPr lang="en" sz="4400" dirty="0"/>
              <a:t>Marhaba</a:t>
            </a:r>
            <a:r>
              <a:rPr lang="en" sz="4000" dirty="0"/>
              <a:t>: </a:t>
            </a:r>
            <a:r>
              <a:rPr lang="fr-FR" sz="3600" dirty="0"/>
              <a:t>Votre Solution de Livraison de Repas</a:t>
            </a:r>
          </a:p>
        </p:txBody>
      </p:sp>
      <p:sp>
        <p:nvSpPr>
          <p:cNvPr id="265" name="Google Shape;265;p48"/>
          <p:cNvSpPr txBox="1">
            <a:spLocks noGrp="1"/>
          </p:cNvSpPr>
          <p:nvPr>
            <p:ph type="subTitle" idx="1"/>
          </p:nvPr>
        </p:nvSpPr>
        <p:spPr>
          <a:xfrm>
            <a:off x="73004" y="3153600"/>
            <a:ext cx="1597396" cy="842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solidFill>
                  <a:schemeClr val="accent6">
                    <a:lumMod val="75000"/>
                  </a:schemeClr>
                </a:solidFill>
              </a:rPr>
              <a:t>Réalisé par: </a:t>
            </a:r>
            <a:endParaRPr sz="1600" dirty="0">
              <a:solidFill>
                <a:schemeClr val="accent6">
                  <a:lumMod val="75000"/>
                </a:schemeClr>
              </a:solidFill>
            </a:endParaRPr>
          </a:p>
          <a:p>
            <a:pPr marL="0" indent="0">
              <a:lnSpc>
                <a:spcPct val="114000"/>
              </a:lnSpc>
              <a:buSzPts val="1600"/>
            </a:pPr>
            <a:r>
              <a:rPr lang="fr-FR" sz="1100" dirty="0">
                <a:solidFill>
                  <a:srgbClr val="002060"/>
                </a:solidFill>
              </a:rPr>
              <a:t>Mr </a:t>
            </a:r>
            <a:r>
              <a:rPr lang="fr-FR" sz="1100" dirty="0" err="1">
                <a:solidFill>
                  <a:srgbClr val="002060"/>
                </a:solidFill>
              </a:rPr>
              <a:t>Azeddine</a:t>
            </a:r>
            <a:r>
              <a:rPr lang="fr-FR" sz="1100" dirty="0">
                <a:solidFill>
                  <a:srgbClr val="002060"/>
                </a:solidFill>
              </a:rPr>
              <a:t> </a:t>
            </a:r>
            <a:r>
              <a:rPr lang="fr-FR" sz="1100" dirty="0" err="1">
                <a:solidFill>
                  <a:srgbClr val="002060"/>
                </a:solidFill>
              </a:rPr>
              <a:t>Maslouh</a:t>
            </a:r>
            <a:endParaRPr lang="fr-FR" sz="1100" dirty="0">
              <a:solidFill>
                <a:srgbClr val="002060"/>
              </a:solidFill>
            </a:endParaRPr>
          </a:p>
          <a:p>
            <a:pPr marL="0" indent="0">
              <a:lnSpc>
                <a:spcPct val="114000"/>
              </a:lnSpc>
              <a:buSzPts val="1600"/>
            </a:pPr>
            <a:r>
              <a:rPr lang="fr-FR" sz="1100" dirty="0">
                <a:solidFill>
                  <a:srgbClr val="002060"/>
                </a:solidFill>
              </a:rPr>
              <a:t>Mr Zakaria </a:t>
            </a:r>
            <a:r>
              <a:rPr lang="fr-FR" sz="1100" dirty="0" err="1">
                <a:solidFill>
                  <a:srgbClr val="002060"/>
                </a:solidFill>
              </a:rPr>
              <a:t>kerkazou</a:t>
            </a:r>
            <a:endParaRPr lang="fr-FR" sz="11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265;p48">
            <a:extLst>
              <a:ext uri="{FF2B5EF4-FFF2-40B4-BE49-F238E27FC236}">
                <a16:creationId xmlns:a16="http://schemas.microsoft.com/office/drawing/2014/main" id="{F74BA647-D2A2-7A1A-2130-E445A78ABCB2}"/>
              </a:ext>
            </a:extLst>
          </p:cNvPr>
          <p:cNvSpPr txBox="1">
            <a:spLocks/>
          </p:cNvSpPr>
          <p:nvPr/>
        </p:nvSpPr>
        <p:spPr>
          <a:xfrm>
            <a:off x="1670400" y="3110400"/>
            <a:ext cx="2340000" cy="106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1pPr>
            <a:lvl2pPr marL="914400" marR="0" lvl="1"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2pPr>
            <a:lvl3pPr marL="1371600" marR="0" lvl="2"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4pPr>
            <a:lvl5pPr marL="2286000" marR="0" lvl="4"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5pPr>
            <a:lvl6pPr marL="2743200" marR="0" lvl="5"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6pPr>
            <a:lvl7pPr marL="3200400" marR="0" lvl="6"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7pPr>
            <a:lvl8pPr marL="3657600" marR="0" lvl="7"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8pPr>
            <a:lvl9pPr marL="4114800" marR="0" lvl="8" indent="-317500" algn="l" rtl="0">
              <a:lnSpc>
                <a:spcPct val="100000"/>
              </a:lnSpc>
              <a:spcBef>
                <a:spcPts val="0"/>
              </a:spcBef>
              <a:spcAft>
                <a:spcPts val="0"/>
              </a:spcAft>
              <a:buClr>
                <a:schemeClr val="dk1"/>
              </a:buClr>
              <a:buSzPts val="2400"/>
              <a:buFont typeface="Roboto"/>
              <a:buNone/>
              <a:defRPr sz="2400" b="0" i="0" u="none" strike="noStrike" cap="none">
                <a:solidFill>
                  <a:schemeClr val="dk1"/>
                </a:solidFill>
                <a:latin typeface="Roboto"/>
                <a:ea typeface="Roboto"/>
                <a:cs typeface="Roboto"/>
                <a:sym typeface="Roboto"/>
              </a:defRPr>
            </a:lvl9pPr>
          </a:lstStyle>
          <a:p>
            <a:pPr marL="0" indent="0"/>
            <a:r>
              <a:rPr lang="en-US" sz="1600" dirty="0" err="1">
                <a:solidFill>
                  <a:schemeClr val="accent6">
                    <a:lumMod val="75000"/>
                  </a:schemeClr>
                </a:solidFill>
              </a:rPr>
              <a:t>Membres</a:t>
            </a:r>
            <a:r>
              <a:rPr lang="en-US" sz="1600" dirty="0">
                <a:solidFill>
                  <a:schemeClr val="accent6">
                    <a:lumMod val="75000"/>
                  </a:schemeClr>
                </a:solidFill>
              </a:rPr>
              <a:t> du jury: </a:t>
            </a:r>
          </a:p>
          <a:p>
            <a:pPr marL="0" indent="0">
              <a:lnSpc>
                <a:spcPct val="114000"/>
              </a:lnSpc>
              <a:buSzPts val="1600"/>
            </a:pPr>
            <a:r>
              <a:rPr lang="en-US" sz="1100" dirty="0">
                <a:solidFill>
                  <a:srgbClr val="002060"/>
                </a:solidFill>
              </a:rPr>
              <a:t>Pr. Younes LAKHRISSI</a:t>
            </a:r>
          </a:p>
          <a:p>
            <a:pPr marL="0" indent="0">
              <a:lnSpc>
                <a:spcPct val="114000"/>
              </a:lnSpc>
              <a:buSzPts val="1600"/>
            </a:pPr>
            <a:r>
              <a:rPr lang="en-US" sz="1100" dirty="0">
                <a:solidFill>
                  <a:srgbClr val="002060"/>
                </a:solidFill>
              </a:rPr>
              <a:t>Pr. Youness IDRISSI KHAMLICHI</a:t>
            </a:r>
          </a:p>
        </p:txBody>
      </p:sp>
      <p:sp>
        <p:nvSpPr>
          <p:cNvPr id="3" name="TextBox 11">
            <a:extLst>
              <a:ext uri="{FF2B5EF4-FFF2-40B4-BE49-F238E27FC236}">
                <a16:creationId xmlns:a16="http://schemas.microsoft.com/office/drawing/2014/main" id="{0AC3E2FC-D714-6822-5C2E-97B56CB276B3}"/>
              </a:ext>
            </a:extLst>
          </p:cNvPr>
          <p:cNvSpPr txBox="1"/>
          <p:nvPr/>
        </p:nvSpPr>
        <p:spPr>
          <a:xfrm>
            <a:off x="0" y="4399470"/>
            <a:ext cx="4233600" cy="30777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400">
                <a:solidFill>
                  <a:srgbClr val="666973"/>
                </a:solidFill>
                <a:latin typeface="Aptos"/>
              </a:defRPr>
            </a:pPr>
            <a:r>
              <a:rPr dirty="0" err="1"/>
              <a:t>Projet</a:t>
            </a:r>
            <a:r>
              <a:rPr dirty="0"/>
              <a:t> de Fin </a:t>
            </a:r>
            <a:r>
              <a:rPr dirty="0" err="1"/>
              <a:t>d’Études</a:t>
            </a:r>
            <a:r>
              <a:rPr dirty="0"/>
              <a:t> • </a:t>
            </a:r>
            <a:r>
              <a:rPr dirty="0" err="1"/>
              <a:t>Filière</a:t>
            </a:r>
            <a:r>
              <a:rPr dirty="0"/>
              <a:t> DLA • Option IFSMD</a:t>
            </a:r>
          </a:p>
        </p:txBody>
      </p:sp>
      <p:sp>
        <p:nvSpPr>
          <p:cNvPr id="4" name="TextBox 13">
            <a:extLst>
              <a:ext uri="{FF2B5EF4-FFF2-40B4-BE49-F238E27FC236}">
                <a16:creationId xmlns:a16="http://schemas.microsoft.com/office/drawing/2014/main" id="{6D27B21E-6D58-F40A-B556-98ED0F899601}"/>
              </a:ext>
            </a:extLst>
          </p:cNvPr>
          <p:cNvSpPr txBox="1"/>
          <p:nvPr/>
        </p:nvSpPr>
        <p:spPr>
          <a:xfrm>
            <a:off x="0" y="4732020"/>
            <a:ext cx="6400800" cy="41148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100">
                <a:solidFill>
                  <a:srgbClr val="183166"/>
                </a:solidFill>
              </a:defRPr>
            </a:pPr>
            <a:r>
              <a:t>Université Sidi Mohamed Ben Abdellah — ENSA Fès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animEffect transition="in" filter="fade">
                                      <p:cBhvr>
                                        <p:cTn id="39" dur="1000"/>
                                        <p:tgtEl>
                                          <p:spTgt spid="2">
                                            <p:txEl>
                                              <p:pRg st="0" end="0"/>
                                            </p:txEl>
                                          </p:spTgt>
                                        </p:tgtEl>
                                      </p:cBhvr>
                                    </p:animEffect>
                                    <p:anim calcmode="lin" valueType="num">
                                      <p:cBhvr>
                                        <p:cTn id="40"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41"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2">
                                            <p:txEl>
                                              <p:pRg st="1" end="1"/>
                                            </p:txEl>
                                          </p:spTgt>
                                        </p:tgtEl>
                                        <p:attrNameLst>
                                          <p:attrName>style.visibility</p:attrName>
                                        </p:attrNameLst>
                                      </p:cBhvr>
                                      <p:to>
                                        <p:strVal val="visible"/>
                                      </p:to>
                                    </p:set>
                                    <p:animEffect transition="in" filter="fade">
                                      <p:cBhvr>
                                        <p:cTn id="46" dur="1000"/>
                                        <p:tgtEl>
                                          <p:spTgt spid="2">
                                            <p:txEl>
                                              <p:pRg st="1" end="1"/>
                                            </p:txEl>
                                          </p:spTgt>
                                        </p:tgtEl>
                                      </p:cBhvr>
                                    </p:animEffect>
                                    <p:anim calcmode="lin" valueType="num">
                                      <p:cBhvr>
                                        <p:cTn id="47"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48"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2">
                                            <p:txEl>
                                              <p:pRg st="2" end="2"/>
                                            </p:txEl>
                                          </p:spTgt>
                                        </p:tgtEl>
                                        <p:attrNameLst>
                                          <p:attrName>style.visibility</p:attrName>
                                        </p:attrNameLst>
                                      </p:cBhvr>
                                      <p:to>
                                        <p:strVal val="visible"/>
                                      </p:to>
                                    </p:set>
                                    <p:anim calcmode="lin" valueType="num">
                                      <p:cBhvr additive="base">
                                        <p:cTn id="5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P spid="2"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198251"/>
            <a:ext cx="1994311" cy="689949"/>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616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p>
          <a:p>
            <a:pPr marL="0" lvl="0" indent="0" algn="ctr" rtl="0">
              <a:spcBef>
                <a:spcPts val="0"/>
              </a:spcBef>
              <a:spcAft>
                <a:spcPts val="0"/>
              </a:spcAft>
              <a:buClr>
                <a:schemeClr val="dk1"/>
              </a:buClr>
              <a:buSzPts val="1100"/>
              <a:buFont typeface="Arial"/>
              <a:buNone/>
            </a:pP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8">
            <a:extLst>
              <a:ext uri="{FF2B5EF4-FFF2-40B4-BE49-F238E27FC236}">
                <a16:creationId xmlns:a16="http://schemas.microsoft.com/office/drawing/2014/main" id="{519558D5-2CB0-2B9B-F344-D32692C3AD51}"/>
              </a:ext>
            </a:extLst>
          </p:cNvPr>
          <p:cNvSpPr/>
          <p:nvPr/>
        </p:nvSpPr>
        <p:spPr>
          <a:xfrm>
            <a:off x="391080" y="1126062"/>
            <a:ext cx="8321040" cy="1097280"/>
          </a:xfrm>
          <a:prstGeom prst="roundRect">
            <a:avLst/>
          </a:prstGeom>
          <a:ln/>
        </p:spPr>
        <p:style>
          <a:lnRef idx="2">
            <a:schemeClr val="accent6"/>
          </a:lnRef>
          <a:fillRef idx="1">
            <a:schemeClr val="lt1"/>
          </a:fillRef>
          <a:effectRef idx="0">
            <a:schemeClr val="accent6"/>
          </a:effectRef>
          <a:fontRef idx="minor">
            <a:schemeClr val="dk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8" name="Titre 7">
            <a:extLst>
              <a:ext uri="{FF2B5EF4-FFF2-40B4-BE49-F238E27FC236}">
                <a16:creationId xmlns:a16="http://schemas.microsoft.com/office/drawing/2014/main" id="{68A39366-74A9-454C-EEB2-796B10E87E7F}"/>
              </a:ext>
            </a:extLst>
          </p:cNvPr>
          <p:cNvSpPr>
            <a:spLocks noGrp="1"/>
          </p:cNvSpPr>
          <p:nvPr>
            <p:ph type="title" idx="6"/>
          </p:nvPr>
        </p:nvSpPr>
        <p:spPr/>
        <p:txBody>
          <a:bodyPr/>
          <a:lstStyle/>
          <a:p>
            <a:r>
              <a:rPr lang="en-US" dirty="0"/>
              <a:t>Architecture technique (MERN)</a:t>
            </a:r>
          </a:p>
        </p:txBody>
      </p:sp>
      <p:sp>
        <p:nvSpPr>
          <p:cNvPr id="2" name="Rounded Rectangle 4">
            <a:extLst>
              <a:ext uri="{FF2B5EF4-FFF2-40B4-BE49-F238E27FC236}">
                <a16:creationId xmlns:a16="http://schemas.microsoft.com/office/drawing/2014/main" id="{53710816-D1E4-3FC6-E452-5860CD037E91}"/>
              </a:ext>
            </a:extLst>
          </p:cNvPr>
          <p:cNvSpPr/>
          <p:nvPr/>
        </p:nvSpPr>
        <p:spPr>
          <a:xfrm>
            <a:off x="640079" y="1329678"/>
            <a:ext cx="3219121" cy="640080"/>
          </a:xfrm>
          <a:prstGeom prst="roundRect">
            <a:avLst/>
          </a:prstGeom>
          <a:solidFill>
            <a:srgbClr val="585BCC"/>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3" name="TextBox 5">
            <a:extLst>
              <a:ext uri="{FF2B5EF4-FFF2-40B4-BE49-F238E27FC236}">
                <a16:creationId xmlns:a16="http://schemas.microsoft.com/office/drawing/2014/main" id="{BBD1B9E1-ABA1-49C0-3B0D-8E1466B355E2}"/>
              </a:ext>
            </a:extLst>
          </p:cNvPr>
          <p:cNvSpPr txBox="1"/>
          <p:nvPr/>
        </p:nvSpPr>
        <p:spPr>
          <a:xfrm>
            <a:off x="758952" y="1480662"/>
            <a:ext cx="2514600" cy="36576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Frontend — React.js</a:t>
            </a:r>
          </a:p>
        </p:txBody>
      </p:sp>
      <p:sp>
        <p:nvSpPr>
          <p:cNvPr id="4" name="TextBox 6">
            <a:extLst>
              <a:ext uri="{FF2B5EF4-FFF2-40B4-BE49-F238E27FC236}">
                <a16:creationId xmlns:a16="http://schemas.microsoft.com/office/drawing/2014/main" id="{755375FF-D3EA-0227-5630-E0A167C1D10D}"/>
              </a:ext>
            </a:extLst>
          </p:cNvPr>
          <p:cNvSpPr txBox="1"/>
          <p:nvPr/>
        </p:nvSpPr>
        <p:spPr>
          <a:xfrm>
            <a:off x="4087800" y="1399734"/>
            <a:ext cx="45595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Interface responsive</a:t>
            </a:r>
            <a:r>
              <a:rPr lang="fr-FR" dirty="0"/>
              <a:t>, appel à l’API</a:t>
            </a:r>
            <a:br>
              <a:rPr dirty="0"/>
            </a:br>
            <a:r>
              <a:rPr dirty="0"/>
              <a:t>React Router • Axios</a:t>
            </a:r>
          </a:p>
        </p:txBody>
      </p:sp>
      <p:cxnSp>
        <p:nvCxnSpPr>
          <p:cNvPr id="5" name="Connector 7">
            <a:extLst>
              <a:ext uri="{FF2B5EF4-FFF2-40B4-BE49-F238E27FC236}">
                <a16:creationId xmlns:a16="http://schemas.microsoft.com/office/drawing/2014/main" id="{A9EBC656-9987-6E48-CC0C-E17C74A3C911}"/>
              </a:ext>
            </a:extLst>
          </p:cNvPr>
          <p:cNvCxnSpPr>
            <a:cxnSpLocks/>
            <a:endCxn id="6" idx="0"/>
          </p:cNvCxnSpPr>
          <p:nvPr/>
        </p:nvCxnSpPr>
        <p:spPr>
          <a:xfrm>
            <a:off x="4572000" y="2223342"/>
            <a:ext cx="0" cy="325584"/>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6" name="Rounded Rectangle 8">
            <a:extLst>
              <a:ext uri="{FF2B5EF4-FFF2-40B4-BE49-F238E27FC236}">
                <a16:creationId xmlns:a16="http://schemas.microsoft.com/office/drawing/2014/main" id="{C2E11207-DCB5-20C1-D4BD-278236A9D98D}"/>
              </a:ext>
            </a:extLst>
          </p:cNvPr>
          <p:cNvSpPr/>
          <p:nvPr/>
        </p:nvSpPr>
        <p:spPr>
          <a:xfrm>
            <a:off x="411480" y="2548926"/>
            <a:ext cx="8321040" cy="1097280"/>
          </a:xfrm>
          <a:prstGeom prst="roundRect">
            <a:avLst/>
          </a:prstGeom>
          <a:solidFill>
            <a:srgbClr val="FFFFFF"/>
          </a:solidFill>
          <a:ln w="25400">
            <a:solidFill>
              <a:srgbClr val="D36799"/>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7" name="Rounded Rectangle 9">
            <a:extLst>
              <a:ext uri="{FF2B5EF4-FFF2-40B4-BE49-F238E27FC236}">
                <a16:creationId xmlns:a16="http://schemas.microsoft.com/office/drawing/2014/main" id="{7B3AC632-38CF-5E5B-591A-93D0AF9692B1}"/>
              </a:ext>
            </a:extLst>
          </p:cNvPr>
          <p:cNvSpPr/>
          <p:nvPr/>
        </p:nvSpPr>
        <p:spPr>
          <a:xfrm>
            <a:off x="640079" y="2752038"/>
            <a:ext cx="3219121" cy="640080"/>
          </a:xfrm>
          <a:prstGeom prst="roundRect">
            <a:avLst/>
          </a:prstGeom>
          <a:solidFill>
            <a:srgbClr val="D36799"/>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9" name="TextBox 10">
            <a:extLst>
              <a:ext uri="{FF2B5EF4-FFF2-40B4-BE49-F238E27FC236}">
                <a16:creationId xmlns:a16="http://schemas.microsoft.com/office/drawing/2014/main" id="{D951CD54-3338-3100-AF1D-FDE8E87D24B7}"/>
              </a:ext>
            </a:extLst>
          </p:cNvPr>
          <p:cNvSpPr txBox="1"/>
          <p:nvPr/>
        </p:nvSpPr>
        <p:spPr>
          <a:xfrm>
            <a:off x="758952" y="2903022"/>
            <a:ext cx="3100248" cy="3231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Backend — Node.js / Express.js</a:t>
            </a:r>
          </a:p>
        </p:txBody>
      </p:sp>
      <p:sp>
        <p:nvSpPr>
          <p:cNvPr id="10" name="TextBox 11">
            <a:extLst>
              <a:ext uri="{FF2B5EF4-FFF2-40B4-BE49-F238E27FC236}">
                <a16:creationId xmlns:a16="http://schemas.microsoft.com/office/drawing/2014/main" id="{0E14AE86-2483-2301-9ECC-512B0D764523}"/>
              </a:ext>
            </a:extLst>
          </p:cNvPr>
          <p:cNvSpPr txBox="1"/>
          <p:nvPr/>
        </p:nvSpPr>
        <p:spPr>
          <a:xfrm>
            <a:off x="4168800" y="2836494"/>
            <a:ext cx="45637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API REST</a:t>
            </a:r>
            <a:br>
              <a:rPr dirty="0"/>
            </a:br>
            <a:r>
              <a:rPr dirty="0" err="1"/>
              <a:t>Logique</a:t>
            </a:r>
            <a:r>
              <a:rPr dirty="0"/>
              <a:t> métier • JWT • </a:t>
            </a:r>
            <a:r>
              <a:rPr lang="fr-FR" dirty="0"/>
              <a:t>gestion des </a:t>
            </a:r>
            <a:r>
              <a:rPr dirty="0" err="1"/>
              <a:t>rôles</a:t>
            </a:r>
            <a:endParaRPr dirty="0"/>
          </a:p>
        </p:txBody>
      </p:sp>
      <p:cxnSp>
        <p:nvCxnSpPr>
          <p:cNvPr id="11" name="Connector 12">
            <a:extLst>
              <a:ext uri="{FF2B5EF4-FFF2-40B4-BE49-F238E27FC236}">
                <a16:creationId xmlns:a16="http://schemas.microsoft.com/office/drawing/2014/main" id="{8EE015F5-4162-34AA-2539-08411BECDEB3}"/>
              </a:ext>
            </a:extLst>
          </p:cNvPr>
          <p:cNvCxnSpPr>
            <a:cxnSpLocks/>
            <a:stCxn id="6" idx="2"/>
          </p:cNvCxnSpPr>
          <p:nvPr/>
        </p:nvCxnSpPr>
        <p:spPr>
          <a:xfrm>
            <a:off x="4572000" y="3646206"/>
            <a:ext cx="0" cy="240048"/>
          </a:xfrm>
          <a:prstGeom prst="line">
            <a:avLst/>
          </a:prstGeom>
          <a:ln w="19050">
            <a:solidFill>
              <a:srgbClr val="666973"/>
            </a:solidFill>
          </a:ln>
        </p:spPr>
        <p:style>
          <a:lnRef idx="2">
            <a:schemeClr val="accent1"/>
          </a:lnRef>
          <a:fillRef idx="0">
            <a:schemeClr val="accent1"/>
          </a:fillRef>
          <a:effectRef idx="1">
            <a:schemeClr val="accent1"/>
          </a:effectRef>
          <a:fontRef idx="minor">
            <a:schemeClr val="tx1"/>
          </a:fontRef>
        </p:style>
      </p:cxnSp>
      <p:sp>
        <p:nvSpPr>
          <p:cNvPr id="12" name="Rounded Rectangle 13">
            <a:extLst>
              <a:ext uri="{FF2B5EF4-FFF2-40B4-BE49-F238E27FC236}">
                <a16:creationId xmlns:a16="http://schemas.microsoft.com/office/drawing/2014/main" id="{4D4085D9-69A4-74CE-1934-C4C4D908D175}"/>
              </a:ext>
            </a:extLst>
          </p:cNvPr>
          <p:cNvSpPr/>
          <p:nvPr/>
        </p:nvSpPr>
        <p:spPr>
          <a:xfrm>
            <a:off x="411480" y="3913686"/>
            <a:ext cx="8321040" cy="1097280"/>
          </a:xfrm>
          <a:prstGeom prst="roundRect">
            <a:avLst/>
          </a:prstGeom>
          <a:solidFill>
            <a:srgbClr val="FFFFFF"/>
          </a:solidFill>
          <a:ln w="25400">
            <a:solidFill>
              <a:srgbClr val="A6C989"/>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3" name="Rounded Rectangle 14">
            <a:extLst>
              <a:ext uri="{FF2B5EF4-FFF2-40B4-BE49-F238E27FC236}">
                <a16:creationId xmlns:a16="http://schemas.microsoft.com/office/drawing/2014/main" id="{64D4365F-2C85-EA4D-B6FE-FF1C3CE7706E}"/>
              </a:ext>
            </a:extLst>
          </p:cNvPr>
          <p:cNvSpPr/>
          <p:nvPr/>
        </p:nvSpPr>
        <p:spPr>
          <a:xfrm>
            <a:off x="640080" y="4145598"/>
            <a:ext cx="3219120" cy="640080"/>
          </a:xfrm>
          <a:prstGeom prst="roundRect">
            <a:avLst/>
          </a:prstGeom>
          <a:solidFill>
            <a:srgbClr val="A6C989"/>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14" name="TextBox 15">
            <a:extLst>
              <a:ext uri="{FF2B5EF4-FFF2-40B4-BE49-F238E27FC236}">
                <a16:creationId xmlns:a16="http://schemas.microsoft.com/office/drawing/2014/main" id="{BF8F24F1-C51A-F100-A152-D21AC6A6792C}"/>
              </a:ext>
            </a:extLst>
          </p:cNvPr>
          <p:cNvSpPr txBox="1"/>
          <p:nvPr/>
        </p:nvSpPr>
        <p:spPr>
          <a:xfrm>
            <a:off x="758952" y="4289382"/>
            <a:ext cx="2514600" cy="365760"/>
          </a:xfrm>
          <a:prstGeom prst="rect">
            <a:avLst/>
          </a:prstGeom>
          <a:noFill/>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500" b="1">
                <a:solidFill>
                  <a:srgbClr val="FFFFFF"/>
                </a:solidFill>
              </a:defRPr>
            </a:pPr>
            <a:r>
              <a:rPr dirty="0"/>
              <a:t>Database — MongoDB</a:t>
            </a:r>
          </a:p>
        </p:txBody>
      </p:sp>
      <p:sp>
        <p:nvSpPr>
          <p:cNvPr id="15" name="TextBox 16">
            <a:extLst>
              <a:ext uri="{FF2B5EF4-FFF2-40B4-BE49-F238E27FC236}">
                <a16:creationId xmlns:a16="http://schemas.microsoft.com/office/drawing/2014/main" id="{6B576BD4-8724-877B-4D61-D54731311DFA}"/>
              </a:ext>
            </a:extLst>
          </p:cNvPr>
          <p:cNvSpPr txBox="1"/>
          <p:nvPr/>
        </p:nvSpPr>
        <p:spPr>
          <a:xfrm>
            <a:off x="4168800" y="4215653"/>
            <a:ext cx="4563720" cy="4616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defRPr sz="1200">
                <a:solidFill>
                  <a:srgbClr val="242730"/>
                </a:solidFill>
              </a:defRPr>
            </a:pPr>
            <a:r>
              <a:rPr dirty="0"/>
              <a:t>Mongoose</a:t>
            </a:r>
            <a:br>
              <a:rPr dirty="0"/>
            </a:br>
            <a:r>
              <a:rPr dirty="0"/>
              <a:t>Collections : users, products, categories, orders, payments</a:t>
            </a:r>
          </a:p>
        </p:txBody>
      </p:sp>
    </p:spTree>
    <p:extLst>
      <p:ext uri="{BB962C8B-B14F-4D97-AF65-F5344CB8AC3E}">
        <p14:creationId xmlns:p14="http://schemas.microsoft.com/office/powerpoint/2010/main" val="1787411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96"/>
        <p:cNvGrpSpPr/>
        <p:nvPr/>
      </p:nvGrpSpPr>
      <p:grpSpPr>
        <a:xfrm>
          <a:off x="0" y="0"/>
          <a:ext cx="0" cy="0"/>
          <a:chOff x="0" y="0"/>
          <a:chExt cx="0" cy="0"/>
        </a:xfrm>
      </p:grpSpPr>
      <p:sp>
        <p:nvSpPr>
          <p:cNvPr id="2997" name="Google Shape;2997;p98"/>
          <p:cNvSpPr/>
          <p:nvPr/>
        </p:nvSpPr>
        <p:spPr>
          <a:xfrm rot="-4254030">
            <a:off x="6172678" y="1531765"/>
            <a:ext cx="4385703" cy="2735710"/>
          </a:xfrm>
          <a:custGeom>
            <a:avLst/>
            <a:gdLst/>
            <a:ahLst/>
            <a:cxnLst/>
            <a:rect l="l" t="t" r="r" b="b"/>
            <a:pathLst>
              <a:path w="280968" h="175262" extrusionOk="0">
                <a:moveTo>
                  <a:pt x="92655" y="1"/>
                </a:moveTo>
                <a:cubicBezTo>
                  <a:pt x="86776" y="1"/>
                  <a:pt x="80138" y="422"/>
                  <a:pt x="72579" y="1423"/>
                </a:cubicBezTo>
                <a:cubicBezTo>
                  <a:pt x="33600" y="6582"/>
                  <a:pt x="1645" y="28443"/>
                  <a:pt x="780" y="98934"/>
                </a:cubicBezTo>
                <a:cubicBezTo>
                  <a:pt x="0" y="162463"/>
                  <a:pt x="54837" y="175261"/>
                  <a:pt x="99154" y="175261"/>
                </a:cubicBezTo>
                <a:cubicBezTo>
                  <a:pt x="129061" y="175261"/>
                  <a:pt x="154177" y="169432"/>
                  <a:pt x="154177" y="169432"/>
                </a:cubicBezTo>
                <a:cubicBezTo>
                  <a:pt x="154177" y="169432"/>
                  <a:pt x="280967" y="147275"/>
                  <a:pt x="267993" y="81444"/>
                </a:cubicBezTo>
                <a:cubicBezTo>
                  <a:pt x="267282" y="77832"/>
                  <a:pt x="260023" y="33652"/>
                  <a:pt x="190079" y="26478"/>
                </a:cubicBezTo>
                <a:cubicBezTo>
                  <a:pt x="139164" y="21255"/>
                  <a:pt x="143064" y="12738"/>
                  <a:pt x="131984" y="8200"/>
                </a:cubicBezTo>
                <a:cubicBezTo>
                  <a:pt x="123301" y="4645"/>
                  <a:pt x="112160" y="1"/>
                  <a:pt x="926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9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Plane de L’application</a:t>
            </a:r>
            <a:endParaRPr dirty="0"/>
          </a:p>
        </p:txBody>
      </p:sp>
      <p:sp>
        <p:nvSpPr>
          <p:cNvPr id="2999" name="Google Shape;2999;p98"/>
          <p:cNvSpPr/>
          <p:nvPr/>
        </p:nvSpPr>
        <p:spPr>
          <a:xfrm>
            <a:off x="1123732" y="2826030"/>
            <a:ext cx="1326186" cy="543239"/>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98"/>
          <p:cNvSpPr/>
          <p:nvPr/>
        </p:nvSpPr>
        <p:spPr>
          <a:xfrm>
            <a:off x="2206467"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98"/>
          <p:cNvSpPr/>
          <p:nvPr/>
        </p:nvSpPr>
        <p:spPr>
          <a:xfrm>
            <a:off x="3331438" y="2826030"/>
            <a:ext cx="1326812" cy="543239"/>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98"/>
          <p:cNvSpPr/>
          <p:nvPr/>
        </p:nvSpPr>
        <p:spPr>
          <a:xfrm>
            <a:off x="4436229" y="2826030"/>
            <a:ext cx="1326186" cy="543239"/>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98"/>
          <p:cNvSpPr/>
          <p:nvPr/>
        </p:nvSpPr>
        <p:spPr>
          <a:xfrm rot="-358812">
            <a:off x="7071296" y="1551556"/>
            <a:ext cx="2578386" cy="3251753"/>
          </a:xfrm>
          <a:custGeom>
            <a:avLst/>
            <a:gdLst/>
            <a:ahLst/>
            <a:cxnLst/>
            <a:rect l="l" t="t" r="r" b="b"/>
            <a:pathLst>
              <a:path w="110389" h="139218" extrusionOk="0">
                <a:moveTo>
                  <a:pt x="109392" y="20761"/>
                </a:moveTo>
                <a:cubicBezTo>
                  <a:pt x="110388" y="17897"/>
                  <a:pt x="107327" y="15198"/>
                  <a:pt x="105713" y="13621"/>
                </a:cubicBezTo>
                <a:cubicBezTo>
                  <a:pt x="103468" y="11426"/>
                  <a:pt x="102131" y="11015"/>
                  <a:pt x="102131" y="11015"/>
                </a:cubicBezTo>
                <a:lnTo>
                  <a:pt x="49447" y="767"/>
                </a:lnTo>
                <a:cubicBezTo>
                  <a:pt x="45536" y="0"/>
                  <a:pt x="41263" y="2461"/>
                  <a:pt x="39913" y="6257"/>
                </a:cubicBezTo>
                <a:lnTo>
                  <a:pt x="942" y="116582"/>
                </a:lnTo>
                <a:cubicBezTo>
                  <a:pt x="0" y="118474"/>
                  <a:pt x="1441" y="126254"/>
                  <a:pt x="4334" y="127566"/>
                </a:cubicBezTo>
                <a:lnTo>
                  <a:pt x="59897" y="138451"/>
                </a:lnTo>
                <a:cubicBezTo>
                  <a:pt x="63808" y="139217"/>
                  <a:pt x="68081" y="136757"/>
                  <a:pt x="69431" y="132961"/>
                </a:cubicBezTo>
                <a:cubicBezTo>
                  <a:pt x="69431" y="132961"/>
                  <a:pt x="104779" y="34029"/>
                  <a:pt x="109392" y="2076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98"/>
          <p:cNvSpPr/>
          <p:nvPr/>
        </p:nvSpPr>
        <p:spPr>
          <a:xfrm rot="-358812">
            <a:off x="7057981" y="1549616"/>
            <a:ext cx="2485728" cy="3143469"/>
          </a:xfrm>
          <a:custGeom>
            <a:avLst/>
            <a:gdLst/>
            <a:ahLst/>
            <a:cxnLst/>
            <a:rect l="l" t="t" r="r" b="b"/>
            <a:pathLst>
              <a:path w="106422" h="134582" extrusionOk="0">
                <a:moveTo>
                  <a:pt x="105169" y="18473"/>
                </a:moveTo>
                <a:cubicBezTo>
                  <a:pt x="106422" y="14952"/>
                  <a:pt x="104493" y="11516"/>
                  <a:pt x="100867" y="10806"/>
                </a:cubicBezTo>
                <a:lnTo>
                  <a:pt x="49341" y="711"/>
                </a:lnTo>
                <a:cubicBezTo>
                  <a:pt x="45715" y="0"/>
                  <a:pt x="41752" y="2281"/>
                  <a:pt x="40500" y="5803"/>
                </a:cubicBezTo>
                <a:lnTo>
                  <a:pt x="1253" y="116110"/>
                </a:lnTo>
                <a:cubicBezTo>
                  <a:pt x="0" y="119630"/>
                  <a:pt x="1929" y="123065"/>
                  <a:pt x="5555" y="123776"/>
                </a:cubicBezTo>
                <a:lnTo>
                  <a:pt x="57081" y="133871"/>
                </a:lnTo>
                <a:cubicBezTo>
                  <a:pt x="60707" y="134581"/>
                  <a:pt x="64670" y="132300"/>
                  <a:pt x="65921" y="12878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98"/>
          <p:cNvSpPr/>
          <p:nvPr/>
        </p:nvSpPr>
        <p:spPr>
          <a:xfrm rot="-358812">
            <a:off x="7256762" y="1710241"/>
            <a:ext cx="2127988" cy="2604663"/>
          </a:xfrm>
          <a:custGeom>
            <a:avLst/>
            <a:gdLst/>
            <a:ahLst/>
            <a:cxnLst/>
            <a:rect l="l" t="t" r="r" b="b"/>
            <a:pathLst>
              <a:path w="91106" h="111514" extrusionOk="0">
                <a:moveTo>
                  <a:pt x="89968" y="16409"/>
                </a:moveTo>
                <a:cubicBezTo>
                  <a:pt x="91105" y="13213"/>
                  <a:pt x="89355" y="10094"/>
                  <a:pt x="86062" y="9449"/>
                </a:cubicBezTo>
                <a:lnTo>
                  <a:pt x="41129" y="645"/>
                </a:lnTo>
                <a:cubicBezTo>
                  <a:pt x="37836" y="0"/>
                  <a:pt x="34239" y="2072"/>
                  <a:pt x="33100" y="5268"/>
                </a:cubicBezTo>
                <a:lnTo>
                  <a:pt x="1137" y="95103"/>
                </a:lnTo>
                <a:cubicBezTo>
                  <a:pt x="0" y="98299"/>
                  <a:pt x="1751" y="101420"/>
                  <a:pt x="5044" y="102065"/>
                </a:cubicBezTo>
                <a:lnTo>
                  <a:pt x="49977" y="110868"/>
                </a:lnTo>
                <a:cubicBezTo>
                  <a:pt x="53271" y="111513"/>
                  <a:pt x="56868" y="109442"/>
                  <a:pt x="58005" y="10624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98"/>
          <p:cNvSpPr/>
          <p:nvPr/>
        </p:nvSpPr>
        <p:spPr>
          <a:xfrm rot="-358812">
            <a:off x="7842626" y="4270621"/>
            <a:ext cx="245041" cy="238571"/>
          </a:xfrm>
          <a:custGeom>
            <a:avLst/>
            <a:gdLst/>
            <a:ahLst/>
            <a:cxnLst/>
            <a:rect l="l" t="t" r="r" b="b"/>
            <a:pathLst>
              <a:path w="10491" h="10214" extrusionOk="0">
                <a:moveTo>
                  <a:pt x="6498" y="1"/>
                </a:moveTo>
                <a:cubicBezTo>
                  <a:pt x="4971" y="1"/>
                  <a:pt x="3320" y="755"/>
                  <a:pt x="2097" y="2167"/>
                </a:cubicBezTo>
                <a:cubicBezTo>
                  <a:pt x="100" y="4472"/>
                  <a:pt x="1" y="7659"/>
                  <a:pt x="1875" y="9283"/>
                </a:cubicBezTo>
                <a:cubicBezTo>
                  <a:pt x="2580" y="9893"/>
                  <a:pt x="3495" y="10214"/>
                  <a:pt x="4489" y="10214"/>
                </a:cubicBezTo>
                <a:cubicBezTo>
                  <a:pt x="4766" y="10214"/>
                  <a:pt x="5049" y="10189"/>
                  <a:pt x="5335" y="10139"/>
                </a:cubicBezTo>
                <a:cubicBezTo>
                  <a:pt x="6650" y="9907"/>
                  <a:pt x="7926" y="9156"/>
                  <a:pt x="8886" y="8048"/>
                </a:cubicBezTo>
                <a:cubicBezTo>
                  <a:pt x="9845" y="6941"/>
                  <a:pt x="10407" y="5569"/>
                  <a:pt x="10449" y="4235"/>
                </a:cubicBezTo>
                <a:cubicBezTo>
                  <a:pt x="10490" y="2901"/>
                  <a:pt x="10008" y="1713"/>
                  <a:pt x="9108" y="932"/>
                </a:cubicBezTo>
                <a:cubicBezTo>
                  <a:pt x="8381" y="303"/>
                  <a:pt x="7465" y="1"/>
                  <a:pt x="649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12" name="Google Shape;3012;p98"/>
          <p:cNvGrpSpPr/>
          <p:nvPr/>
        </p:nvGrpSpPr>
        <p:grpSpPr>
          <a:xfrm>
            <a:off x="6194965" y="1219779"/>
            <a:ext cx="3002294" cy="2591440"/>
            <a:chOff x="6271165" y="1219779"/>
            <a:chExt cx="3002294" cy="2591440"/>
          </a:xfrm>
        </p:grpSpPr>
        <p:sp>
          <p:nvSpPr>
            <p:cNvPr id="3013" name="Google Shape;3013;p98"/>
            <p:cNvSpPr/>
            <p:nvPr/>
          </p:nvSpPr>
          <p:spPr>
            <a:xfrm>
              <a:off x="6339861" y="2668438"/>
              <a:ext cx="592643" cy="144046"/>
            </a:xfrm>
            <a:custGeom>
              <a:avLst/>
              <a:gdLst/>
              <a:ahLst/>
              <a:cxnLst/>
              <a:rect l="l" t="t" r="r" b="b"/>
              <a:pathLst>
                <a:path w="23690" h="5758" extrusionOk="0">
                  <a:moveTo>
                    <a:pt x="1" y="1"/>
                  </a:moveTo>
                  <a:lnTo>
                    <a:pt x="1" y="5758"/>
                  </a:lnTo>
                  <a:lnTo>
                    <a:pt x="23689" y="5758"/>
                  </a:lnTo>
                  <a:lnTo>
                    <a:pt x="2368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98"/>
            <p:cNvSpPr/>
            <p:nvPr/>
          </p:nvSpPr>
          <p:spPr>
            <a:xfrm>
              <a:off x="6636186" y="2668438"/>
              <a:ext cx="296321" cy="144046"/>
            </a:xfrm>
            <a:custGeom>
              <a:avLst/>
              <a:gdLst/>
              <a:ahLst/>
              <a:cxnLst/>
              <a:rect l="l" t="t" r="r" b="b"/>
              <a:pathLst>
                <a:path w="11845" h="5758" extrusionOk="0">
                  <a:moveTo>
                    <a:pt x="0" y="1"/>
                  </a:moveTo>
                  <a:lnTo>
                    <a:pt x="0" y="5758"/>
                  </a:lnTo>
                  <a:lnTo>
                    <a:pt x="11844" y="5758"/>
                  </a:lnTo>
                  <a:lnTo>
                    <a:pt x="1184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98"/>
            <p:cNvSpPr/>
            <p:nvPr/>
          </p:nvSpPr>
          <p:spPr>
            <a:xfrm>
              <a:off x="6341037" y="2214577"/>
              <a:ext cx="590341" cy="407820"/>
            </a:xfrm>
            <a:custGeom>
              <a:avLst/>
              <a:gdLst/>
              <a:ahLst/>
              <a:cxnLst/>
              <a:rect l="l" t="t" r="r" b="b"/>
              <a:pathLst>
                <a:path w="23598" h="16302" extrusionOk="0">
                  <a:moveTo>
                    <a:pt x="11798" y="0"/>
                  </a:moveTo>
                  <a:cubicBezTo>
                    <a:pt x="5293" y="0"/>
                    <a:pt x="0" y="5293"/>
                    <a:pt x="0" y="11798"/>
                  </a:cubicBezTo>
                  <a:lnTo>
                    <a:pt x="0" y="16301"/>
                  </a:lnTo>
                  <a:lnTo>
                    <a:pt x="23597" y="16301"/>
                  </a:lnTo>
                  <a:lnTo>
                    <a:pt x="23597" y="11798"/>
                  </a:lnTo>
                  <a:cubicBezTo>
                    <a:pt x="23597" y="5293"/>
                    <a:pt x="18304" y="0"/>
                    <a:pt x="1179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98"/>
            <p:cNvSpPr/>
            <p:nvPr/>
          </p:nvSpPr>
          <p:spPr>
            <a:xfrm>
              <a:off x="6636186" y="2214577"/>
              <a:ext cx="295196" cy="407820"/>
            </a:xfrm>
            <a:custGeom>
              <a:avLst/>
              <a:gdLst/>
              <a:ahLst/>
              <a:cxnLst/>
              <a:rect l="l" t="t" r="r" b="b"/>
              <a:pathLst>
                <a:path w="11800" h="16302" extrusionOk="0">
                  <a:moveTo>
                    <a:pt x="0" y="0"/>
                  </a:moveTo>
                  <a:lnTo>
                    <a:pt x="0" y="16301"/>
                  </a:lnTo>
                  <a:lnTo>
                    <a:pt x="11799" y="16301"/>
                  </a:lnTo>
                  <a:lnTo>
                    <a:pt x="11799" y="11798"/>
                  </a:lnTo>
                  <a:cubicBezTo>
                    <a:pt x="11799" y="5293"/>
                    <a:pt x="6506" y="0"/>
                    <a:pt x="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98"/>
            <p:cNvSpPr/>
            <p:nvPr/>
          </p:nvSpPr>
          <p:spPr>
            <a:xfrm>
              <a:off x="6271165" y="2500572"/>
              <a:ext cx="730084" cy="197456"/>
            </a:xfrm>
            <a:custGeom>
              <a:avLst/>
              <a:gdLst/>
              <a:ahLst/>
              <a:cxnLst/>
              <a:rect l="l" t="t" r="r" b="b"/>
              <a:pathLst>
                <a:path w="29184" h="7893" extrusionOk="0">
                  <a:moveTo>
                    <a:pt x="3945" y="0"/>
                  </a:moveTo>
                  <a:cubicBezTo>
                    <a:pt x="1770" y="0"/>
                    <a:pt x="0" y="1770"/>
                    <a:pt x="0" y="3947"/>
                  </a:cubicBezTo>
                  <a:cubicBezTo>
                    <a:pt x="0" y="6123"/>
                    <a:pt x="1770" y="7892"/>
                    <a:pt x="3945" y="7892"/>
                  </a:cubicBezTo>
                  <a:lnTo>
                    <a:pt x="25237" y="7892"/>
                  </a:lnTo>
                  <a:cubicBezTo>
                    <a:pt x="27414" y="7892"/>
                    <a:pt x="29183" y="6123"/>
                    <a:pt x="29183" y="3947"/>
                  </a:cubicBezTo>
                  <a:cubicBezTo>
                    <a:pt x="29183" y="1770"/>
                    <a:pt x="27414" y="0"/>
                    <a:pt x="252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98"/>
            <p:cNvSpPr/>
            <p:nvPr/>
          </p:nvSpPr>
          <p:spPr>
            <a:xfrm>
              <a:off x="6730300" y="2368081"/>
              <a:ext cx="42803" cy="42803"/>
            </a:xfrm>
            <a:custGeom>
              <a:avLst/>
              <a:gdLst/>
              <a:ahLst/>
              <a:cxnLst/>
              <a:rect l="l" t="t" r="r" b="b"/>
              <a:pathLst>
                <a:path w="1711" h="1711" extrusionOk="0">
                  <a:moveTo>
                    <a:pt x="1" y="0"/>
                  </a:moveTo>
                  <a:lnTo>
                    <a:pt x="1" y="1711"/>
                  </a:lnTo>
                  <a:lnTo>
                    <a:pt x="1711" y="1711"/>
                  </a:lnTo>
                  <a:lnTo>
                    <a:pt x="171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98"/>
            <p:cNvSpPr/>
            <p:nvPr/>
          </p:nvSpPr>
          <p:spPr>
            <a:xfrm>
              <a:off x="6614772" y="2292003"/>
              <a:ext cx="42828" cy="42803"/>
            </a:xfrm>
            <a:custGeom>
              <a:avLst/>
              <a:gdLst/>
              <a:ahLst/>
              <a:cxnLst/>
              <a:rect l="l" t="t" r="r" b="b"/>
              <a:pathLst>
                <a:path w="1712" h="1711" extrusionOk="0">
                  <a:moveTo>
                    <a:pt x="1" y="1"/>
                  </a:moveTo>
                  <a:lnTo>
                    <a:pt x="1" y="1711"/>
                  </a:lnTo>
                  <a:lnTo>
                    <a:pt x="1711" y="1711"/>
                  </a:lnTo>
                  <a:lnTo>
                    <a:pt x="171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98"/>
            <p:cNvSpPr/>
            <p:nvPr/>
          </p:nvSpPr>
          <p:spPr>
            <a:xfrm>
              <a:off x="6636186" y="2292003"/>
              <a:ext cx="21414" cy="42803"/>
            </a:xfrm>
            <a:custGeom>
              <a:avLst/>
              <a:gdLst/>
              <a:ahLst/>
              <a:cxnLst/>
              <a:rect l="l" t="t" r="r" b="b"/>
              <a:pathLst>
                <a:path w="856" h="1711" extrusionOk="0">
                  <a:moveTo>
                    <a:pt x="0" y="1"/>
                  </a:moveTo>
                  <a:lnTo>
                    <a:pt x="0" y="1711"/>
                  </a:lnTo>
                  <a:lnTo>
                    <a:pt x="855" y="1711"/>
                  </a:lnTo>
                  <a:lnTo>
                    <a:pt x="85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98"/>
            <p:cNvSpPr/>
            <p:nvPr/>
          </p:nvSpPr>
          <p:spPr>
            <a:xfrm rot="-358812">
              <a:off x="6918615" y="1271970"/>
              <a:ext cx="1057034" cy="1055632"/>
            </a:xfrm>
            <a:custGeom>
              <a:avLst/>
              <a:gdLst/>
              <a:ahLst/>
              <a:cxnLst/>
              <a:rect l="l" t="t" r="r" b="b"/>
              <a:pathLst>
                <a:path w="45255" h="45195" extrusionOk="0">
                  <a:moveTo>
                    <a:pt x="38984" y="17864"/>
                  </a:moveTo>
                  <a:cubicBezTo>
                    <a:pt x="38984" y="17864"/>
                    <a:pt x="41221" y="7674"/>
                    <a:pt x="29690" y="7260"/>
                  </a:cubicBezTo>
                  <a:cubicBezTo>
                    <a:pt x="21762" y="6975"/>
                    <a:pt x="15137" y="4268"/>
                    <a:pt x="11635" y="2134"/>
                  </a:cubicBezTo>
                  <a:cubicBezTo>
                    <a:pt x="8131" y="1"/>
                    <a:pt x="3796" y="5139"/>
                    <a:pt x="9751" y="8597"/>
                  </a:cubicBezTo>
                  <a:cubicBezTo>
                    <a:pt x="9751" y="8597"/>
                    <a:pt x="1804" y="5580"/>
                    <a:pt x="1024" y="11674"/>
                  </a:cubicBezTo>
                  <a:cubicBezTo>
                    <a:pt x="0" y="19686"/>
                    <a:pt x="9562" y="20209"/>
                    <a:pt x="14299" y="21375"/>
                  </a:cubicBezTo>
                  <a:cubicBezTo>
                    <a:pt x="19037" y="22539"/>
                    <a:pt x="27502" y="44583"/>
                    <a:pt x="32484" y="45194"/>
                  </a:cubicBezTo>
                  <a:cubicBezTo>
                    <a:pt x="32484" y="45194"/>
                    <a:pt x="36209" y="42749"/>
                    <a:pt x="39673" y="36991"/>
                  </a:cubicBezTo>
                  <a:cubicBezTo>
                    <a:pt x="42996" y="31467"/>
                    <a:pt x="45254" y="22131"/>
                    <a:pt x="38984" y="1786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98"/>
            <p:cNvSpPr/>
            <p:nvPr/>
          </p:nvSpPr>
          <p:spPr>
            <a:xfrm rot="-358812">
              <a:off x="7187344" y="1579263"/>
              <a:ext cx="1684877" cy="1995762"/>
            </a:xfrm>
            <a:custGeom>
              <a:avLst/>
              <a:gdLst/>
              <a:ahLst/>
              <a:cxnLst/>
              <a:rect l="l" t="t" r="r" b="b"/>
              <a:pathLst>
                <a:path w="72135" h="85445" extrusionOk="0">
                  <a:moveTo>
                    <a:pt x="19508" y="7049"/>
                  </a:moveTo>
                  <a:cubicBezTo>
                    <a:pt x="19945" y="912"/>
                    <a:pt x="8452" y="1"/>
                    <a:pt x="6444" y="1517"/>
                  </a:cubicBezTo>
                  <a:cubicBezTo>
                    <a:pt x="4374" y="3081"/>
                    <a:pt x="3119" y="5198"/>
                    <a:pt x="2068" y="9755"/>
                  </a:cubicBezTo>
                  <a:cubicBezTo>
                    <a:pt x="0" y="18730"/>
                    <a:pt x="441" y="28013"/>
                    <a:pt x="3581" y="30974"/>
                  </a:cubicBezTo>
                  <a:cubicBezTo>
                    <a:pt x="5432" y="32720"/>
                    <a:pt x="12826" y="33311"/>
                    <a:pt x="12826" y="33311"/>
                  </a:cubicBezTo>
                  <a:cubicBezTo>
                    <a:pt x="12826" y="33311"/>
                    <a:pt x="20210" y="36637"/>
                    <a:pt x="20498" y="42615"/>
                  </a:cubicBezTo>
                  <a:cubicBezTo>
                    <a:pt x="20823" y="49351"/>
                    <a:pt x="12642" y="65718"/>
                    <a:pt x="19971" y="70129"/>
                  </a:cubicBezTo>
                  <a:cubicBezTo>
                    <a:pt x="27298" y="74538"/>
                    <a:pt x="35305" y="83821"/>
                    <a:pt x="47443" y="84627"/>
                  </a:cubicBezTo>
                  <a:cubicBezTo>
                    <a:pt x="59761" y="85445"/>
                    <a:pt x="72135" y="69834"/>
                    <a:pt x="67683" y="64579"/>
                  </a:cubicBezTo>
                  <a:cubicBezTo>
                    <a:pt x="58201" y="53386"/>
                    <a:pt x="49836" y="35510"/>
                    <a:pt x="34961" y="33187"/>
                  </a:cubicBezTo>
                  <a:cubicBezTo>
                    <a:pt x="28265" y="32141"/>
                    <a:pt x="24547" y="32406"/>
                    <a:pt x="24579" y="25606"/>
                  </a:cubicBezTo>
                  <a:cubicBezTo>
                    <a:pt x="24579" y="25606"/>
                    <a:pt x="26095" y="25566"/>
                    <a:pt x="27666" y="24176"/>
                  </a:cubicBezTo>
                  <a:cubicBezTo>
                    <a:pt x="29646" y="22422"/>
                    <a:pt x="30899" y="17763"/>
                    <a:pt x="27828" y="16202"/>
                  </a:cubicBezTo>
                  <a:cubicBezTo>
                    <a:pt x="25946" y="15245"/>
                    <a:pt x="24287" y="16297"/>
                    <a:pt x="24582" y="16622"/>
                  </a:cubicBezTo>
                  <a:lnTo>
                    <a:pt x="23843" y="20085"/>
                  </a:lnTo>
                  <a:cubicBezTo>
                    <a:pt x="23843" y="20085"/>
                    <a:pt x="18706" y="18319"/>
                    <a:pt x="19508" y="704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98"/>
            <p:cNvSpPr/>
            <p:nvPr/>
          </p:nvSpPr>
          <p:spPr>
            <a:xfrm rot="-358812">
              <a:off x="7545250" y="2151911"/>
              <a:ext cx="1650519" cy="1577620"/>
            </a:xfrm>
            <a:custGeom>
              <a:avLst/>
              <a:gdLst/>
              <a:ahLst/>
              <a:cxnLst/>
              <a:rect l="l" t="t" r="r" b="b"/>
              <a:pathLst>
                <a:path w="70664" h="67543" extrusionOk="0">
                  <a:moveTo>
                    <a:pt x="16757" y="61276"/>
                  </a:moveTo>
                  <a:cubicBezTo>
                    <a:pt x="16757" y="61276"/>
                    <a:pt x="6764" y="53718"/>
                    <a:pt x="3197" y="44691"/>
                  </a:cubicBezTo>
                  <a:cubicBezTo>
                    <a:pt x="0" y="36601"/>
                    <a:pt x="3096" y="27301"/>
                    <a:pt x="5055" y="26926"/>
                  </a:cubicBezTo>
                  <a:cubicBezTo>
                    <a:pt x="9267" y="26121"/>
                    <a:pt x="14965" y="14534"/>
                    <a:pt x="19328" y="4483"/>
                  </a:cubicBezTo>
                  <a:cubicBezTo>
                    <a:pt x="21273" y="0"/>
                    <a:pt x="57527" y="29106"/>
                    <a:pt x="64095" y="35766"/>
                  </a:cubicBezTo>
                  <a:cubicBezTo>
                    <a:pt x="70663" y="42426"/>
                    <a:pt x="47308" y="60725"/>
                    <a:pt x="40124" y="64134"/>
                  </a:cubicBezTo>
                  <a:cubicBezTo>
                    <a:pt x="32942" y="67542"/>
                    <a:pt x="16757" y="61276"/>
                    <a:pt x="16757" y="6127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98"/>
            <p:cNvSpPr/>
            <p:nvPr/>
          </p:nvSpPr>
          <p:spPr>
            <a:xfrm rot="-358812">
              <a:off x="6685890" y="2388790"/>
              <a:ext cx="1673479" cy="1083054"/>
            </a:xfrm>
            <a:custGeom>
              <a:avLst/>
              <a:gdLst/>
              <a:ahLst/>
              <a:cxnLst/>
              <a:rect l="l" t="t" r="r" b="b"/>
              <a:pathLst>
                <a:path w="71647" h="46369" extrusionOk="0">
                  <a:moveTo>
                    <a:pt x="55014" y="7375"/>
                  </a:moveTo>
                  <a:cubicBezTo>
                    <a:pt x="52129" y="12817"/>
                    <a:pt x="41607" y="25707"/>
                    <a:pt x="35402" y="29433"/>
                  </a:cubicBezTo>
                  <a:cubicBezTo>
                    <a:pt x="32471" y="31192"/>
                    <a:pt x="4671" y="12337"/>
                    <a:pt x="4671" y="12337"/>
                  </a:cubicBezTo>
                  <a:cubicBezTo>
                    <a:pt x="4671" y="12337"/>
                    <a:pt x="0" y="11879"/>
                    <a:pt x="2844" y="16429"/>
                  </a:cubicBezTo>
                  <a:cubicBezTo>
                    <a:pt x="5695" y="20994"/>
                    <a:pt x="26861" y="46369"/>
                    <a:pt x="38706" y="42795"/>
                  </a:cubicBezTo>
                  <a:cubicBezTo>
                    <a:pt x="50551" y="39220"/>
                    <a:pt x="68732" y="22307"/>
                    <a:pt x="70001" y="14967"/>
                  </a:cubicBezTo>
                  <a:cubicBezTo>
                    <a:pt x="71647" y="5452"/>
                    <a:pt x="58923" y="1"/>
                    <a:pt x="55014" y="7375"/>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98"/>
            <p:cNvSpPr/>
            <p:nvPr/>
          </p:nvSpPr>
          <p:spPr>
            <a:xfrm rot="-358812">
              <a:off x="6418666" y="2640404"/>
              <a:ext cx="465721" cy="295213"/>
            </a:xfrm>
            <a:custGeom>
              <a:avLst/>
              <a:gdLst/>
              <a:ahLst/>
              <a:cxnLst/>
              <a:rect l="l" t="t" r="r" b="b"/>
              <a:pathLst>
                <a:path w="19939" h="12639" extrusionOk="0">
                  <a:moveTo>
                    <a:pt x="9866" y="1593"/>
                  </a:moveTo>
                  <a:cubicBezTo>
                    <a:pt x="10946" y="3001"/>
                    <a:pt x="16229" y="4499"/>
                    <a:pt x="19401" y="9607"/>
                  </a:cubicBezTo>
                  <a:cubicBezTo>
                    <a:pt x="19507" y="9779"/>
                    <a:pt x="19939" y="12295"/>
                    <a:pt x="18220" y="12513"/>
                  </a:cubicBezTo>
                  <a:cubicBezTo>
                    <a:pt x="17216" y="12638"/>
                    <a:pt x="14035" y="12175"/>
                    <a:pt x="10308" y="10294"/>
                  </a:cubicBezTo>
                  <a:cubicBezTo>
                    <a:pt x="8093" y="9174"/>
                    <a:pt x="3969" y="7405"/>
                    <a:pt x="2307" y="6680"/>
                  </a:cubicBezTo>
                  <a:cubicBezTo>
                    <a:pt x="624" y="5945"/>
                    <a:pt x="1307" y="5534"/>
                    <a:pt x="2504" y="5916"/>
                  </a:cubicBezTo>
                  <a:cubicBezTo>
                    <a:pt x="3557" y="6251"/>
                    <a:pt x="7317" y="7272"/>
                    <a:pt x="7317" y="7272"/>
                  </a:cubicBezTo>
                  <a:cubicBezTo>
                    <a:pt x="7317" y="7272"/>
                    <a:pt x="2616" y="5183"/>
                    <a:pt x="1451" y="4587"/>
                  </a:cubicBezTo>
                  <a:cubicBezTo>
                    <a:pt x="398" y="4048"/>
                    <a:pt x="1" y="3106"/>
                    <a:pt x="1445" y="3627"/>
                  </a:cubicBezTo>
                  <a:cubicBezTo>
                    <a:pt x="2628" y="4054"/>
                    <a:pt x="7117" y="5963"/>
                    <a:pt x="7117" y="5963"/>
                  </a:cubicBezTo>
                  <a:cubicBezTo>
                    <a:pt x="7117" y="5963"/>
                    <a:pt x="2359" y="3151"/>
                    <a:pt x="1272" y="2416"/>
                  </a:cubicBezTo>
                  <a:cubicBezTo>
                    <a:pt x="529" y="1915"/>
                    <a:pt x="687" y="1163"/>
                    <a:pt x="2147" y="1894"/>
                  </a:cubicBezTo>
                  <a:cubicBezTo>
                    <a:pt x="3316" y="2481"/>
                    <a:pt x="7958" y="4806"/>
                    <a:pt x="7958" y="4806"/>
                  </a:cubicBezTo>
                  <a:cubicBezTo>
                    <a:pt x="7958" y="4806"/>
                    <a:pt x="4260" y="2345"/>
                    <a:pt x="3280" y="1693"/>
                  </a:cubicBezTo>
                  <a:cubicBezTo>
                    <a:pt x="2183" y="961"/>
                    <a:pt x="2161" y="0"/>
                    <a:pt x="4060" y="1055"/>
                  </a:cubicBezTo>
                  <a:cubicBezTo>
                    <a:pt x="5489" y="1850"/>
                    <a:pt x="8974" y="3416"/>
                    <a:pt x="10923" y="4405"/>
                  </a:cubicBezTo>
                  <a:cubicBezTo>
                    <a:pt x="10176" y="3807"/>
                    <a:pt x="8549" y="2604"/>
                    <a:pt x="8697" y="1042"/>
                  </a:cubicBezTo>
                  <a:cubicBezTo>
                    <a:pt x="8726" y="742"/>
                    <a:pt x="8919" y="364"/>
                    <a:pt x="9866" y="1593"/>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012"/>
                                        </p:tgtEl>
                                        <p:attrNameLst>
                                          <p:attrName>style.visibility</p:attrName>
                                        </p:attrNameLst>
                                      </p:cBhvr>
                                      <p:to>
                                        <p:strVal val="visible"/>
                                      </p:to>
                                    </p:set>
                                    <p:anim calcmode="lin" valueType="num">
                                      <p:cBhvr additive="base">
                                        <p:cTn id="7" dur="1000"/>
                                        <p:tgtEl>
                                          <p:spTgt spid="301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96">
          <a:extLst>
            <a:ext uri="{FF2B5EF4-FFF2-40B4-BE49-F238E27FC236}">
              <a16:creationId xmlns:a16="http://schemas.microsoft.com/office/drawing/2014/main" id="{16714382-C6A2-A8AD-30F8-3C5EB74E0B0E}"/>
            </a:ext>
          </a:extLst>
        </p:cNvPr>
        <p:cNvGrpSpPr/>
        <p:nvPr/>
      </p:nvGrpSpPr>
      <p:grpSpPr>
        <a:xfrm>
          <a:off x="0" y="0"/>
          <a:ext cx="0" cy="0"/>
          <a:chOff x="0" y="0"/>
          <a:chExt cx="0" cy="0"/>
        </a:xfrm>
      </p:grpSpPr>
      <p:sp>
        <p:nvSpPr>
          <p:cNvPr id="2998" name="Google Shape;2998;p98">
            <a:extLst>
              <a:ext uri="{FF2B5EF4-FFF2-40B4-BE49-F238E27FC236}">
                <a16:creationId xmlns:a16="http://schemas.microsoft.com/office/drawing/2014/main" id="{243B692F-9E29-D476-13E8-2A0F0BC237DA}"/>
              </a:ext>
            </a:extLst>
          </p:cNvPr>
          <p:cNvSpPr txBox="1">
            <a:spLocks noGrp="1"/>
          </p:cNvSpPr>
          <p:nvPr>
            <p:ph type="title"/>
          </p:nvPr>
        </p:nvSpPr>
        <p:spPr>
          <a:xfrm>
            <a:off x="-42775" y="381099"/>
            <a:ext cx="3361975" cy="87616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Diagramme de cas d’etulisation</a:t>
            </a:r>
            <a:endParaRPr dirty="0"/>
          </a:p>
        </p:txBody>
      </p:sp>
      <p:sp>
        <p:nvSpPr>
          <p:cNvPr id="9" name="Rectangle 8">
            <a:extLst>
              <a:ext uri="{FF2B5EF4-FFF2-40B4-BE49-F238E27FC236}">
                <a16:creationId xmlns:a16="http://schemas.microsoft.com/office/drawing/2014/main" id="{3352667C-C918-39D6-F079-6E8048E2EDEF}"/>
              </a:ext>
            </a:extLst>
          </p:cNvPr>
          <p:cNvSpPr/>
          <p:nvPr/>
        </p:nvSpPr>
        <p:spPr>
          <a:xfrm>
            <a:off x="345600" y="1199659"/>
            <a:ext cx="828000" cy="4571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pic>
        <p:nvPicPr>
          <p:cNvPr id="6" name="Image 5">
            <a:extLst>
              <a:ext uri="{FF2B5EF4-FFF2-40B4-BE49-F238E27FC236}">
                <a16:creationId xmlns:a16="http://schemas.microsoft.com/office/drawing/2014/main" id="{C38AA010-04E4-229B-1062-7BCE0C751DB0}"/>
              </a:ext>
            </a:extLst>
          </p:cNvPr>
          <p:cNvPicPr>
            <a:picLocks noChangeAspect="1"/>
          </p:cNvPicPr>
          <p:nvPr/>
        </p:nvPicPr>
        <p:blipFill>
          <a:blip r:embed="rId3"/>
          <a:stretch>
            <a:fillRect/>
          </a:stretch>
        </p:blipFill>
        <p:spPr>
          <a:xfrm>
            <a:off x="3384001" y="50400"/>
            <a:ext cx="5760000" cy="5059619"/>
          </a:xfrm>
          <a:prstGeom prst="rect">
            <a:avLst/>
          </a:prstGeom>
        </p:spPr>
      </p:pic>
    </p:spTree>
    <p:extLst>
      <p:ext uri="{BB962C8B-B14F-4D97-AF65-F5344CB8AC3E}">
        <p14:creationId xmlns:p14="http://schemas.microsoft.com/office/powerpoint/2010/main" val="2475637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96">
          <a:extLst>
            <a:ext uri="{FF2B5EF4-FFF2-40B4-BE49-F238E27FC236}">
              <a16:creationId xmlns:a16="http://schemas.microsoft.com/office/drawing/2014/main" id="{0DF1ACE3-A985-3326-5FE3-79F2819EA313}"/>
            </a:ext>
          </a:extLst>
        </p:cNvPr>
        <p:cNvGrpSpPr/>
        <p:nvPr/>
      </p:nvGrpSpPr>
      <p:grpSpPr>
        <a:xfrm>
          <a:off x="0" y="0"/>
          <a:ext cx="0" cy="0"/>
          <a:chOff x="0" y="0"/>
          <a:chExt cx="0" cy="0"/>
        </a:xfrm>
      </p:grpSpPr>
      <p:sp>
        <p:nvSpPr>
          <p:cNvPr id="2998" name="Google Shape;2998;p98">
            <a:extLst>
              <a:ext uri="{FF2B5EF4-FFF2-40B4-BE49-F238E27FC236}">
                <a16:creationId xmlns:a16="http://schemas.microsoft.com/office/drawing/2014/main" id="{D8D7CF9A-098F-D328-CAB4-A809326CE821}"/>
              </a:ext>
            </a:extLst>
          </p:cNvPr>
          <p:cNvSpPr txBox="1">
            <a:spLocks noGrp="1"/>
          </p:cNvSpPr>
          <p:nvPr>
            <p:ph type="title"/>
          </p:nvPr>
        </p:nvSpPr>
        <p:spPr>
          <a:xfrm>
            <a:off x="7625" y="201100"/>
            <a:ext cx="3426775"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Diagramme de classe</a:t>
            </a:r>
            <a:endParaRPr dirty="0"/>
          </a:p>
        </p:txBody>
      </p:sp>
      <p:pic>
        <p:nvPicPr>
          <p:cNvPr id="3" name="Image 2">
            <a:extLst>
              <a:ext uri="{FF2B5EF4-FFF2-40B4-BE49-F238E27FC236}">
                <a16:creationId xmlns:a16="http://schemas.microsoft.com/office/drawing/2014/main" id="{DE88B0A9-29C2-B31E-3CE3-1C1623FFB049}"/>
              </a:ext>
            </a:extLst>
          </p:cNvPr>
          <p:cNvPicPr>
            <a:picLocks noChangeAspect="1"/>
          </p:cNvPicPr>
          <p:nvPr/>
        </p:nvPicPr>
        <p:blipFill>
          <a:blip r:embed="rId3"/>
          <a:stretch>
            <a:fillRect/>
          </a:stretch>
        </p:blipFill>
        <p:spPr>
          <a:xfrm>
            <a:off x="3837598" y="480240"/>
            <a:ext cx="5249405" cy="4571546"/>
          </a:xfrm>
          <a:prstGeom prst="rect">
            <a:avLst/>
          </a:prstGeom>
        </p:spPr>
      </p:pic>
      <p:sp>
        <p:nvSpPr>
          <p:cNvPr id="9" name="Rectangle 8">
            <a:extLst>
              <a:ext uri="{FF2B5EF4-FFF2-40B4-BE49-F238E27FC236}">
                <a16:creationId xmlns:a16="http://schemas.microsoft.com/office/drawing/2014/main" id="{91760E45-15CD-0382-AF04-D75943C23FCF}"/>
              </a:ext>
            </a:extLst>
          </p:cNvPr>
          <p:cNvSpPr/>
          <p:nvPr/>
        </p:nvSpPr>
        <p:spPr>
          <a:xfrm>
            <a:off x="223200" y="983659"/>
            <a:ext cx="828000" cy="4571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8576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1226</TotalTime>
  <Words>506</Words>
  <Application>Microsoft Office PowerPoint</Application>
  <PresentationFormat>Affichage à l'écran (16:9)</PresentationFormat>
  <Paragraphs>58</Paragraphs>
  <Slides>10</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10</vt:i4>
      </vt:variant>
    </vt:vector>
  </HeadingPairs>
  <TitlesOfParts>
    <vt:vector size="15" baseType="lpstr">
      <vt:lpstr>Roboto</vt:lpstr>
      <vt:lpstr>Open Sans</vt:lpstr>
      <vt:lpstr>Arial</vt:lpstr>
      <vt:lpstr>Advent Pro</vt:lpstr>
      <vt:lpstr>Food Delivery App by Slidesgo</vt:lpstr>
      <vt:lpstr>Marhaba: Votre Solution de Livraison de Repas</vt:lpstr>
      <vt:lpstr>Introduction</vt:lpstr>
      <vt:lpstr>Problem</vt:lpstr>
      <vt:lpstr>Solution</vt:lpstr>
      <vt:lpstr>Client</vt:lpstr>
      <vt:lpstr>Architecture technique (MERN)</vt:lpstr>
      <vt:lpstr>Plane de L’application</vt:lpstr>
      <vt:lpstr>Diagramme de cas d’etulisation</vt:lpstr>
      <vt:lpstr>Diagramme de classe</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Azeddine Maslouh</cp:lastModifiedBy>
  <cp:revision>36</cp:revision>
  <dcterms:modified xsi:type="dcterms:W3CDTF">2026-10-02T17:44:37Z</dcterms:modified>
</cp:coreProperties>
</file>